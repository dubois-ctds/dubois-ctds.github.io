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972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262"/>
                </a:solidFill>
                <a:latin typeface="Helvetica Neue"/>
              </a:defRPr>
            </a:pPr>
            <a:r>
              <a:t>APIs and Prompt Engineering</a:t>
            </a:r>
          </a:p>
          <a:p>
            <a:pPr>
              <a:spcBef>
                <a:spcPts val="1600"/>
              </a:spcBef>
              <a:defRPr sz="2200">
                <a:solidFill>
                  <a:srgbClr val="333333"/>
                </a:solidFill>
                <a:latin typeface="Helvetica Neue"/>
              </a:defRPr>
            </a:pPr>
            <a:r>
              <a:t>Lab 9 — OpenAI API in Jupyter</a:t>
            </a:r>
          </a:p>
          <a:p>
            <a:pPr>
              <a:spcBef>
                <a:spcPts val="2800"/>
              </a:spcBef>
              <a:defRPr sz="1800">
                <a:solidFill>
                  <a:srgbClr val="333333"/>
                </a:solidFill>
                <a:latin typeface="Helvetica Neue"/>
              </a:defRPr>
            </a:pPr>
            <a:r>
              <a:t>Workshop 3 · April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560320" cy="109728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Today’s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430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● [lec] What is an API? From ChatGPT to code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● [lec] API keys, safety, and the OpenAI client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● [lec] Chat completions: messages, roles, responses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● Live coding: first request + parsing the reply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● [lec] Chain of command &amp; prompt engineering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● [if time] Compare models (gpt-4o-mini vs others)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● Curriculum shareout (5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DB515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41732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3262"/>
                </a:solidFill>
                <a:latin typeface="Helvetica Neue"/>
              </a:defRPr>
            </a:pPr>
            <a:r>
              <a:t>Working with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09728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3262"/>
                </a:solidFill>
                <a:latin typeface="Helvetica Neue"/>
              </a:defRPr>
            </a:pPr>
            <a:r>
              <a:t>➤ Working with APIs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Helvetica Neue"/>
              </a:defRPr>
            </a:pPr>
            <a:r>
              <a:t>2. Chain of command &amp; prompt engineering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Helvetica Neue"/>
              </a:defRPr>
            </a:pPr>
            <a:r>
              <a:t>3. Curriculum shareout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What is an API?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3385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  <a:r>
              <a:t>An Application Programming Interface lets you use other people’s code through a clear contract—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  <a:r>
              <a:t>you rely on what it does, not how it is implemented.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  <a:r>
              <a:t>You already use APIs: e.g. NumPy’s np.average(arr) without rewriting the algorithm.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  <a:r>
              <a:t>Large language models are often used through a website (e.g. chatgpt.com)—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  <a:r>
              <a:t>in this lab we access the same ideas programmatically via the OpenAI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API quick reflection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03262"/>
                </a:solidFill>
                <a:latin typeface="Helvetica Neue"/>
              </a:defRPr>
            </a:pPr>
            <a:r>
              <a:t>1. What do you notice?</a:t>
            </a:r>
          </a:p>
          <a:p>
            <a:pPr>
              <a:spcAft>
                <a:spcPts val="1800"/>
              </a:spcAft>
              <a:defRPr sz="2200" b="0">
                <a:solidFill>
                  <a:srgbClr val="333333"/>
                </a:solidFill>
                <a:latin typeface="Helvetica Neue"/>
              </a:defRPr>
            </a:pPr>
            <a:r>
              <a:t>2. What do you wonder?</a:t>
            </a:r>
          </a:p>
          <a:p>
            <a:pPr>
              <a:spcAft>
                <a:spcPts val="1800"/>
              </a:spcAft>
              <a:defRPr sz="2200" b="0">
                <a:solidFill>
                  <a:srgbClr val="333333"/>
                </a:solidFill>
                <a:latin typeface="Helvetica Neue"/>
              </a:defRPr>
            </a:pPr>
            <a:r>
              <a:t>3. Who benefits when a powerful model is only available through a website vs. an API?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API 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3385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  <a:r>
              <a:t>Your API key identifies your project and enables billing / rate limits.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  <a:r>
              <a:t>Do not share keys publicly or commit them to GitHub.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  <a:r>
              <a:t>In production, keys usually live in environment variables—not inside notebooks.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Chat completion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3385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A chat completion is like a function call: you pass a model name and a list of messages.</a:t>
            </a: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Each message is a dict with "role" and "content".</a:t>
            </a: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Question (from lab): What is the data type of messages? Of each element inside messages?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60520"/>
            <a:ext cx="11430000" cy="2423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10642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8E8"/>
                </a:solidFill>
                <a:latin typeface="Menlo"/>
              </a:defRPr>
            </a:pPr>
            <a:r>
              <a:t>from openai import OpenAI</a:t>
            </a:r>
            <a:br/>
            <a:r>
              <a:t>client = OpenAI(api_key=API_KEY)</a:t>
            </a:r>
            <a:br/>
            <a:r>
              <a:t>message = [{"role": "user", "content": "Hi there!"}]</a:t>
            </a:r>
            <a:br/>
            <a:r>
              <a:t>completion = client.chat.completions.create(</a:t>
            </a:r>
            <a:br/>
            <a:r>
              <a:t>    model="gpt-4o-mini",</a:t>
            </a:r>
            <a:br/>
            <a:r>
              <a:t>    messages=message,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Reading the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3385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The API returns a chat completion object. You can convert it to JSON, then to a dict,</a:t>
            </a: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and navigate it the way you already navigate nested data in Data 6.</a:t>
            </a: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In the lab, you extract the assistant’s reply string from the nested structure (hello_llm).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60520"/>
            <a:ext cx="11430000" cy="2423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10642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8E8"/>
                </a:solidFill>
                <a:latin typeface="Menlo"/>
              </a:defRPr>
            </a:pPr>
            <a:r>
              <a:t>response_json = completion.model_dump_json()</a:t>
            </a:r>
            <a:br/>
            <a:r>
              <a:t>response_dict = json.loads(response_json)</a:t>
            </a:r>
            <a:br/>
            <a:r>
              <a:t># ... then index into the dict to get the model’s text reply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Your own request (Lab Q4)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3385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Change the user message—e.g. ask for the best restaurant in Berkeley.</a:t>
            </a: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Print completion.choices[0].message.content to see the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60520"/>
            <a:ext cx="11430000" cy="2423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10642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8E8"/>
                </a:solidFill>
                <a:latin typeface="Menlo"/>
              </a:defRPr>
            </a:pPr>
            <a:r>
              <a:t>message2 = [{"role": "user", "content": ...}]</a:t>
            </a:r>
            <a:br/>
            <a:r>
              <a:t>completion = client.chat.completions.create(</a:t>
            </a:r>
            <a:br/>
            <a:r>
              <a:t>    model="gpt-4o-mini",</a:t>
            </a:r>
            <a:br/>
            <a:r>
              <a:t>    messages=message2,</a:t>
            </a:r>
            <a:br/>
            <a:r>
              <a:t>)</a:t>
            </a:r>
            <a:br/>
            <a:r>
              <a:t>print(completion.choices[0].message.content)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Helper function: prompt(model, message)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3385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Avoid repeating boilerplate: one function that calls the API and returns only the assistant string.</a:t>
            </a: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Implement using the dict/JSON path from the lab—not dot notation on the completion object.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60520"/>
            <a:ext cx="11430000" cy="2423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10642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8E8"/>
                </a:solidFill>
                <a:latin typeface="Menlo"/>
              </a:defRPr>
            </a:pPr>
            <a:r>
              <a:t>def prompt(model, message):</a:t>
            </a:r>
            <a:br/>
            <a:r>
              <a:t>    """Returns the model’s reply as a str."""</a:t>
            </a:r>
            <a:br/>
            <a:r>
              <a:t>    ...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DB515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41732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3262"/>
                </a:solidFill>
                <a:latin typeface="Helvetica Neue"/>
              </a:defRPr>
            </a:pPr>
            <a:r>
              <a:t>Chain of Command</a:t>
            </a:r>
          </a:p>
          <a:p>
            <a:pPr>
              <a:defRPr sz="3000" b="1">
                <a:solidFill>
                  <a:srgbClr val="003262"/>
                </a:solidFill>
                <a:latin typeface="Helvetica Neue"/>
              </a:defRPr>
            </a:pPr>
            <a:r>
              <a:t>&amp;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09728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Helvetica Neue"/>
              </a:defRPr>
            </a:pPr>
            <a:r>
              <a:t>1. Working with APIs</a:t>
            </a:r>
          </a:p>
          <a:p>
            <a:pPr>
              <a:spcAft>
                <a:spcPts val="1200"/>
              </a:spcAft>
              <a:defRPr sz="1800" b="1">
                <a:solidFill>
                  <a:srgbClr val="003262"/>
                </a:solidFill>
                <a:latin typeface="Helvetica Neue"/>
              </a:defRPr>
            </a:pPr>
            <a:r>
              <a:t>➤ Chain of command &amp; prompt engineering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Helvetica Neue"/>
              </a:defRPr>
            </a:pPr>
            <a:r>
              <a:t>3. Curriculum shareout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Chain of command (OpenAI, 2025 spec)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3385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  <a:r>
              <a:t>Models are told to follow instructions—but higher-authority sources win when rules conflict.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  <a:r>
              <a:t>Rough order (high → low): Platform (system / model spec) → Developer → User →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  <a:r>
              <a:t>Guideline suggestions → No authority (assistant, tool outputs, quoted text).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  <a:r>
              <a:t>Discussion (Lab Q6): What could go wrong if the model always obeyed the user, even against platform rules?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Message roles (Lab Q7)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3385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system — platform-level behavior and boundaries</a:t>
            </a: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developer — tone, format, product defaults</a:t>
            </a: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user — the end user’s question or command</a:t>
            </a: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assistant — prior turns in the conversation</a:t>
            </a: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tool — outputs from tools / function calling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60520"/>
            <a:ext cx="11430000" cy="2423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10642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8E8"/>
                </a:solidFill>
                <a:latin typeface="Menlo"/>
              </a:defRPr>
            </a:pPr>
            <a:r>
              <a:t>message3 = [</a:t>
            </a:r>
            <a:br/>
            <a:r>
              <a:t>    {"role": "system", "content": "You are a neutral, fact-based assistant..."},</a:t>
            </a:r>
            <a:br/>
            <a:r>
              <a:t>    {"role": "developer", "content": "Respond formally, no emojis, be brief."},</a:t>
            </a:r>
            <a:br/>
            <a:r>
              <a:t>    {"role": "user", "content": "Why should a model refuse some questions?"},</a:t>
            </a:r>
            <a:br/>
            <a:r>
              <a:t>]</a:t>
            </a:r>
            <a:br/>
            <a:r>
              <a:t>response3 = prompt(model_choice, message3)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Prompt engineering (Lab Q8)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03262"/>
                </a:solidFill>
                <a:latin typeface="Helvetica Neue"/>
              </a:defRPr>
            </a:pPr>
            <a:r>
              <a:t>1. Structure: context, constraints, actions under uncertainty</a:t>
            </a:r>
          </a:p>
          <a:p>
            <a:pPr>
              <a:spcAft>
                <a:spcPts val="1800"/>
              </a:spcAft>
              <a:defRPr sz="2200" b="0">
                <a:solidFill>
                  <a:srgbClr val="333333"/>
                </a:solidFill>
                <a:latin typeface="Helvetica Neue"/>
              </a:defRPr>
            </a:pPr>
            <a:r>
              <a:t>2. Multiple choice options with \n-separated lines</a:t>
            </a:r>
          </a:p>
          <a:p>
            <a:pPr>
              <a:spcAft>
                <a:spcPts val="1800"/>
              </a:spcAft>
              <a:defRPr sz="2200" b="0">
                <a:solidFill>
                  <a:srgbClr val="333333"/>
                </a:solidFill>
                <a:latin typeface="Helvetica Neue"/>
              </a:defRPr>
            </a:pPr>
            <a:r>
              <a:t>3. Two few-shot examples (input → output)</a:t>
            </a:r>
          </a:p>
          <a:p>
            <a:pPr>
              <a:spcAft>
                <a:spcPts val="1800"/>
              </a:spcAft>
              <a:defRPr sz="2200" b="0">
                <a:solidFill>
                  <a:srgbClr val="333333"/>
                </a:solidFill>
                <a:latin typeface="Helvetica Neue"/>
              </a:defRPr>
            </a:pPr>
            <a:r>
              <a:t>4. Compare MIT prompting figure vs OpenAI guide on where to put context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Exploring different models (Lab Q9)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3385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Try the same messages with e.g. gpt-3.5-turbo, gpt-4o, or gpt-4.1.</a:t>
            </a: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Ask: How do answers differ? Does release date relate to detail or “freshness”?</a:t>
            </a:r>
          </a:p>
          <a:p>
            <a:pPr>
              <a:defRPr sz="1800">
                <a:solidFill>
                  <a:srgbClr val="333333"/>
                </a:solidFill>
                <a:latin typeface="Helvetica Neue"/>
              </a:defRPr>
            </a:pPr>
            <a:r>
              <a:t>What about latency?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60520"/>
            <a:ext cx="11430000" cy="24231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10642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8E8"/>
                </a:solidFill>
                <a:latin typeface="Menlo"/>
              </a:defRPr>
            </a:pPr>
            <a:r>
              <a:t>prompt("gpt-4.1", message3)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So… what do students see?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3385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  <a:r>
              <a:t>Point participants to the course notebook: Lab 9 — APIs and Prompt Engineering.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Helvetica Neue"/>
              </a:defRPr>
            </a:pPr>
            <a:r>
              <a:t>They set API_KEY, complete short-answer + coding questions, and experiment with roles and models.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DB515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41732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3262"/>
                </a:solidFill>
                <a:latin typeface="Helvetica Neue"/>
              </a:defRPr>
            </a:pPr>
            <a:r>
              <a:t>Curriculum</a:t>
            </a:r>
          </a:p>
          <a:p>
            <a:pPr>
              <a:defRPr sz="3000" b="1">
                <a:solidFill>
                  <a:srgbClr val="003262"/>
                </a:solidFill>
                <a:latin typeface="Helvetica Neue"/>
              </a:defRPr>
            </a:pPr>
            <a:r>
              <a:t>Share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097280"/>
            <a:ext cx="4572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Helvetica Neue"/>
              </a:defRPr>
            </a:pPr>
            <a:r>
              <a:t>1. Working with APIs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Helvetica Neue"/>
              </a:defRPr>
            </a:pPr>
            <a:r>
              <a:t>2. Chain of command &amp; prompt engineering</a:t>
            </a:r>
          </a:p>
          <a:p>
            <a:pPr>
              <a:spcAft>
                <a:spcPts val="1200"/>
              </a:spcAft>
              <a:defRPr sz="1800" b="1">
                <a:solidFill>
                  <a:srgbClr val="003262"/>
                </a:solidFill>
                <a:latin typeface="Helvetica Neue"/>
              </a:defRPr>
            </a:pPr>
            <a:r>
              <a:t>➤ Curriculum shareout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t>Resources &amp; 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430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● OpenAI Chat API reference — platform.openai.com/docs/api-reference/chat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● Chain of command — model-spec.openai.com (Feb 2025)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● Prompt engineering guide — platform.openai.com/docs/guides/prompt-engineering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● Pricing / models — platform.openai.com/docs/pricing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